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B8AD2D-59F1-4B26-B218-95A0A585F698}" v="11" dt="2026-05-28T16:12:02.4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51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ỳnh Tịnh Văn" userId="b2441919-6a35-40a2-a7eb-2f9cbd811ef0" providerId="ADAL" clId="{21223C81-75EF-4F66-92CF-F990B7563824}"/>
    <pc:docChg chg="custSel modSld">
      <pc:chgData name="Huỳnh Tịnh Văn" userId="b2441919-6a35-40a2-a7eb-2f9cbd811ef0" providerId="ADAL" clId="{21223C81-75EF-4F66-92CF-F990B7563824}" dt="2026-05-29T03:43:42.881" v="281" actId="14100"/>
      <pc:docMkLst>
        <pc:docMk/>
      </pc:docMkLst>
      <pc:sldChg chg="modSp mod">
        <pc:chgData name="Huỳnh Tịnh Văn" userId="b2441919-6a35-40a2-a7eb-2f9cbd811ef0" providerId="ADAL" clId="{21223C81-75EF-4F66-92CF-F990B7563824}" dt="2026-05-28T15:24:04.219" v="58"/>
        <pc:sldMkLst>
          <pc:docMk/>
          <pc:sldMk cId="0" sldId="256"/>
        </pc:sldMkLst>
        <pc:spChg chg="mod">
          <ac:chgData name="Huỳnh Tịnh Văn" userId="b2441919-6a35-40a2-a7eb-2f9cbd811ef0" providerId="ADAL" clId="{21223C81-75EF-4F66-92CF-F990B7563824}" dt="2026-05-28T15:24:04.219" v="58"/>
          <ac:spMkLst>
            <pc:docMk/>
            <pc:sldMk cId="0" sldId="256"/>
            <ac:spMk id="7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8T14:32:16.368" v="29" actId="20577"/>
          <ac:spMkLst>
            <pc:docMk/>
            <pc:sldMk cId="0" sldId="256"/>
            <ac:spMk id="20" creationId="{00000000-0000-0000-0000-000000000000}"/>
          </ac:spMkLst>
        </pc:spChg>
      </pc:sldChg>
      <pc:sldChg chg="modSp mod">
        <pc:chgData name="Huỳnh Tịnh Văn" userId="b2441919-6a35-40a2-a7eb-2f9cbd811ef0" providerId="ADAL" clId="{21223C81-75EF-4F66-92CF-F990B7563824}" dt="2026-05-29T02:29:40.300" v="146" actId="20577"/>
        <pc:sldMkLst>
          <pc:docMk/>
          <pc:sldMk cId="0" sldId="257"/>
        </pc:sldMkLst>
        <pc:spChg chg="mod">
          <ac:chgData name="Huỳnh Tịnh Văn" userId="b2441919-6a35-40a2-a7eb-2f9cbd811ef0" providerId="ADAL" clId="{21223C81-75EF-4F66-92CF-F990B7563824}" dt="2026-05-28T15:24:04.219" v="58"/>
          <ac:spMkLst>
            <pc:docMk/>
            <pc:sldMk cId="0" sldId="257"/>
            <ac:spMk id="5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8T15:24:04.219" v="58"/>
          <ac:spMkLst>
            <pc:docMk/>
            <pc:sldMk cId="0" sldId="257"/>
            <ac:spMk id="7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9T02:29:29.621" v="130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9T02:29:40.300" v="146" actId="20577"/>
          <ac:spMkLst>
            <pc:docMk/>
            <pc:sldMk cId="0" sldId="257"/>
            <ac:spMk id="13" creationId="{00000000-0000-0000-0000-000000000000}"/>
          </ac:spMkLst>
        </pc:spChg>
      </pc:sldChg>
      <pc:sldChg chg="addSp delSp modSp mod">
        <pc:chgData name="Huỳnh Tịnh Văn" userId="b2441919-6a35-40a2-a7eb-2f9cbd811ef0" providerId="ADAL" clId="{21223C81-75EF-4F66-92CF-F990B7563824}" dt="2026-05-29T03:07:24.925" v="270" actId="20577"/>
        <pc:sldMkLst>
          <pc:docMk/>
          <pc:sldMk cId="0" sldId="258"/>
        </pc:sldMkLst>
        <pc:spChg chg="del">
          <ac:chgData name="Huỳnh Tịnh Văn" userId="b2441919-6a35-40a2-a7eb-2f9cbd811ef0" providerId="ADAL" clId="{21223C81-75EF-4F66-92CF-F990B7563824}" dt="2026-05-28T14:32:59.663" v="46" actId="478"/>
          <ac:spMkLst>
            <pc:docMk/>
            <pc:sldMk cId="0" sldId="258"/>
            <ac:spMk id="7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8T15:57:40.025" v="60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8T15:57:40.025" v="60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8T15:57:40.025" v="60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9T03:07:16.235" v="262" actId="2057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8T15:57:40.025" v="60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8T15:57:40.025" v="60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9T03:07:24.925" v="270" actId="20577"/>
          <ac:spMkLst>
            <pc:docMk/>
            <pc:sldMk cId="0" sldId="258"/>
            <ac:spMk id="15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8T15:57:40.025" v="60" actId="107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8T15:57:40.025" v="60" actId="107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9T02:30:16.772" v="170" actId="20577"/>
          <ac:spMkLst>
            <pc:docMk/>
            <pc:sldMk cId="0" sldId="258"/>
            <ac:spMk id="19" creationId="{00000000-0000-0000-0000-000000000000}"/>
          </ac:spMkLst>
        </pc:spChg>
        <pc:spChg chg="add mod">
          <ac:chgData name="Huỳnh Tịnh Văn" userId="b2441919-6a35-40a2-a7eb-2f9cbd811ef0" providerId="ADAL" clId="{21223C81-75EF-4F66-92CF-F990B7563824}" dt="2026-05-28T14:32:38.877" v="45"/>
          <ac:spMkLst>
            <pc:docMk/>
            <pc:sldMk cId="0" sldId="258"/>
            <ac:spMk id="20" creationId="{684CCD81-0B03-4F16-BCC3-84F580C8AF86}"/>
          </ac:spMkLst>
        </pc:spChg>
        <pc:spChg chg="add mod">
          <ac:chgData name="Huỳnh Tịnh Văn" userId="b2441919-6a35-40a2-a7eb-2f9cbd811ef0" providerId="ADAL" clId="{21223C81-75EF-4F66-92CF-F990B7563824}" dt="2026-05-28T15:24:04.219" v="58"/>
          <ac:spMkLst>
            <pc:docMk/>
            <pc:sldMk cId="0" sldId="258"/>
            <ac:spMk id="21" creationId="{2E0896D1-BA26-2053-0539-A830092332C2}"/>
          </ac:spMkLst>
        </pc:spChg>
      </pc:sldChg>
      <pc:sldChg chg="addSp delSp modSp mod">
        <pc:chgData name="Huỳnh Tịnh Văn" userId="b2441919-6a35-40a2-a7eb-2f9cbd811ef0" providerId="ADAL" clId="{21223C81-75EF-4F66-92CF-F990B7563824}" dt="2026-05-29T03:07:40.917" v="273" actId="20577"/>
        <pc:sldMkLst>
          <pc:docMk/>
          <pc:sldMk cId="0" sldId="259"/>
        </pc:sldMkLst>
        <pc:spChg chg="del">
          <ac:chgData name="Huỳnh Tịnh Văn" userId="b2441919-6a35-40a2-a7eb-2f9cbd811ef0" providerId="ADAL" clId="{21223C81-75EF-4F66-92CF-F990B7563824}" dt="2026-05-28T14:33:04.406" v="48" actId="478"/>
          <ac:spMkLst>
            <pc:docMk/>
            <pc:sldMk cId="0" sldId="259"/>
            <ac:spMk id="7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9T03:07:40.917" v="273" actId="2057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8T15:24:04.219" v="58"/>
          <ac:spMkLst>
            <pc:docMk/>
            <pc:sldMk cId="0" sldId="259"/>
            <ac:spMk id="15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9T02:31:25.607" v="233" actId="20577"/>
          <ac:spMkLst>
            <pc:docMk/>
            <pc:sldMk cId="0" sldId="259"/>
            <ac:spMk id="19" creationId="{00000000-0000-0000-0000-000000000000}"/>
          </ac:spMkLst>
        </pc:spChg>
        <pc:spChg chg="add mod">
          <ac:chgData name="Huỳnh Tịnh Văn" userId="b2441919-6a35-40a2-a7eb-2f9cbd811ef0" providerId="ADAL" clId="{21223C81-75EF-4F66-92CF-F990B7563824}" dt="2026-05-28T15:24:04.219" v="58"/>
          <ac:spMkLst>
            <pc:docMk/>
            <pc:sldMk cId="0" sldId="259"/>
            <ac:spMk id="24" creationId="{22E29453-EE47-8EAC-8D5E-1DE6D78CA67F}"/>
          </ac:spMkLst>
        </pc:spChg>
      </pc:sldChg>
      <pc:sldChg chg="addSp delSp modSp mod">
        <pc:chgData name="Huỳnh Tịnh Văn" userId="b2441919-6a35-40a2-a7eb-2f9cbd811ef0" providerId="ADAL" clId="{21223C81-75EF-4F66-92CF-F990B7563824}" dt="2026-05-29T03:43:42.881" v="281" actId="14100"/>
        <pc:sldMkLst>
          <pc:docMk/>
          <pc:sldMk cId="0" sldId="260"/>
        </pc:sldMkLst>
        <pc:spChg chg="mod">
          <ac:chgData name="Huỳnh Tịnh Văn" userId="b2441919-6a35-40a2-a7eb-2f9cbd811ef0" providerId="ADAL" clId="{21223C81-75EF-4F66-92CF-F990B7563824}" dt="2026-05-29T02:34:30.734" v="240" actId="20577"/>
          <ac:spMkLst>
            <pc:docMk/>
            <pc:sldMk cId="0" sldId="260"/>
            <ac:spMk id="5" creationId="{00000000-0000-0000-0000-000000000000}"/>
          </ac:spMkLst>
        </pc:spChg>
        <pc:spChg chg="del">
          <ac:chgData name="Huỳnh Tịnh Văn" userId="b2441919-6a35-40a2-a7eb-2f9cbd811ef0" providerId="ADAL" clId="{21223C81-75EF-4F66-92CF-F990B7563824}" dt="2026-05-28T14:33:10.114" v="50" actId="478"/>
          <ac:spMkLst>
            <pc:docMk/>
            <pc:sldMk cId="0" sldId="260"/>
            <ac:spMk id="7" creationId="{00000000-0000-0000-0000-000000000000}"/>
          </ac:spMkLst>
        </pc:spChg>
        <pc:spChg chg="del">
          <ac:chgData name="Huỳnh Tịnh Văn" userId="b2441919-6a35-40a2-a7eb-2f9cbd811ef0" providerId="ADAL" clId="{21223C81-75EF-4F66-92CF-F990B7563824}" dt="2026-05-29T02:34:06.603" v="234" actId="478"/>
          <ac:spMkLst>
            <pc:docMk/>
            <pc:sldMk cId="0" sldId="260"/>
            <ac:spMk id="8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9T02:16:21.334" v="62" actId="20577"/>
          <ac:spMkLst>
            <pc:docMk/>
            <pc:sldMk cId="0" sldId="260"/>
            <ac:spMk id="9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9T02:34:19.423" v="235" actId="107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9T02:34:19.423" v="235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9T02:34:19.423" v="235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9T02:34:19.423" v="235" actId="107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9T02:34:19.423" v="235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9T02:34:19.423" v="235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9T02:34:19.423" v="235" actId="107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9T02:34:19.423" v="235" actId="107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9T02:34:19.423" v="235" actId="107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9T03:43:42.881" v="281" actId="14100"/>
          <ac:spMkLst>
            <pc:docMk/>
            <pc:sldMk cId="0" sldId="260"/>
            <ac:spMk id="20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9T03:43:36.898" v="280" actId="14100"/>
          <ac:spMkLst>
            <pc:docMk/>
            <pc:sldMk cId="0" sldId="260"/>
            <ac:spMk id="23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9T02:17:26.978" v="117" actId="20577"/>
          <ac:spMkLst>
            <pc:docMk/>
            <pc:sldMk cId="0" sldId="260"/>
            <ac:spMk id="25" creationId="{00000000-0000-0000-0000-000000000000}"/>
          </ac:spMkLst>
        </pc:spChg>
        <pc:spChg chg="add mod">
          <ac:chgData name="Huỳnh Tịnh Văn" userId="b2441919-6a35-40a2-a7eb-2f9cbd811ef0" providerId="ADAL" clId="{21223C81-75EF-4F66-92CF-F990B7563824}" dt="2026-05-28T15:24:04.219" v="58"/>
          <ac:spMkLst>
            <pc:docMk/>
            <pc:sldMk cId="0" sldId="260"/>
            <ac:spMk id="26" creationId="{A6AB4FD3-FCC8-18D8-A1F3-F4ABB8C8FA99}"/>
          </ac:spMkLst>
        </pc:spChg>
      </pc:sldChg>
      <pc:sldChg chg="addSp delSp modSp mod">
        <pc:chgData name="Huỳnh Tịnh Văn" userId="b2441919-6a35-40a2-a7eb-2f9cbd811ef0" providerId="ADAL" clId="{21223C81-75EF-4F66-92CF-F990B7563824}" dt="2026-05-29T03:08:22.707" v="279" actId="20577"/>
        <pc:sldMkLst>
          <pc:docMk/>
          <pc:sldMk cId="0" sldId="261"/>
        </pc:sldMkLst>
        <pc:spChg chg="del">
          <ac:chgData name="Huỳnh Tịnh Văn" userId="b2441919-6a35-40a2-a7eb-2f9cbd811ef0" providerId="ADAL" clId="{21223C81-75EF-4F66-92CF-F990B7563824}" dt="2026-05-28T14:33:14.209" v="52" actId="478"/>
          <ac:spMkLst>
            <pc:docMk/>
            <pc:sldMk cId="0" sldId="261"/>
            <ac:spMk id="7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9T03:08:22.707" v="279" actId="20577"/>
          <ac:spMkLst>
            <pc:docMk/>
            <pc:sldMk cId="0" sldId="261"/>
            <ac:spMk id="27" creationId="{00000000-0000-0000-0000-000000000000}"/>
          </ac:spMkLst>
        </pc:spChg>
        <pc:spChg chg="add mod">
          <ac:chgData name="Huỳnh Tịnh Văn" userId="b2441919-6a35-40a2-a7eb-2f9cbd811ef0" providerId="ADAL" clId="{21223C81-75EF-4F66-92CF-F990B7563824}" dt="2026-05-28T15:24:04.219" v="58"/>
          <ac:spMkLst>
            <pc:docMk/>
            <pc:sldMk cId="0" sldId="261"/>
            <ac:spMk id="29" creationId="{D7AF7F1A-5354-9A5D-6210-2610231E32ED}"/>
          </ac:spMkLst>
        </pc:spChg>
      </pc:sldChg>
      <pc:sldChg chg="addSp delSp modSp mod">
        <pc:chgData name="Huỳnh Tịnh Văn" userId="b2441919-6a35-40a2-a7eb-2f9cbd811ef0" providerId="ADAL" clId="{21223C81-75EF-4F66-92CF-F990B7563824}" dt="2026-05-29T02:34:56.312" v="250" actId="20577"/>
        <pc:sldMkLst>
          <pc:docMk/>
          <pc:sldMk cId="0" sldId="262"/>
        </pc:sldMkLst>
        <pc:spChg chg="del">
          <ac:chgData name="Huỳnh Tịnh Văn" userId="b2441919-6a35-40a2-a7eb-2f9cbd811ef0" providerId="ADAL" clId="{21223C81-75EF-4F66-92CF-F990B7563824}" dt="2026-05-28T14:33:19.431" v="54" actId="478"/>
          <ac:spMkLst>
            <pc:docMk/>
            <pc:sldMk cId="0" sldId="262"/>
            <ac:spMk id="7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8T15:53:02.588" v="59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9T02:34:56.312" v="250" actId="20577"/>
          <ac:spMkLst>
            <pc:docMk/>
            <pc:sldMk cId="0" sldId="262"/>
            <ac:spMk id="9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8T15:53:02.588" v="59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8T15:53:02.588" v="59" actId="107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8T15:53:02.588" v="59" actId="107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8T15:53:02.588" v="59" actId="107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8T15:53:02.588" v="59" actId="1076"/>
          <ac:spMkLst>
            <pc:docMk/>
            <pc:sldMk cId="0" sldId="262"/>
            <ac:spMk id="17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8T15:53:02.588" v="59" actId="1076"/>
          <ac:spMkLst>
            <pc:docMk/>
            <pc:sldMk cId="0" sldId="262"/>
            <ac:spMk id="20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8T15:53:02.588" v="59" actId="1076"/>
          <ac:spMkLst>
            <pc:docMk/>
            <pc:sldMk cId="0" sldId="262"/>
            <ac:spMk id="21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8T15:53:02.588" v="59" actId="1076"/>
          <ac:spMkLst>
            <pc:docMk/>
            <pc:sldMk cId="0" sldId="262"/>
            <ac:spMk id="23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8T15:53:02.588" v="59" actId="1076"/>
          <ac:spMkLst>
            <pc:docMk/>
            <pc:sldMk cId="0" sldId="262"/>
            <ac:spMk id="25" creationId="{00000000-0000-0000-0000-000000000000}"/>
          </ac:spMkLst>
        </pc:spChg>
        <pc:spChg chg="add mod">
          <ac:chgData name="Huỳnh Tịnh Văn" userId="b2441919-6a35-40a2-a7eb-2f9cbd811ef0" providerId="ADAL" clId="{21223C81-75EF-4F66-92CF-F990B7563824}" dt="2026-05-28T15:24:04.219" v="58"/>
          <ac:spMkLst>
            <pc:docMk/>
            <pc:sldMk cId="0" sldId="262"/>
            <ac:spMk id="51" creationId="{AAF14DCD-BF2E-F347-343C-4E3564372B52}"/>
          </ac:spMkLst>
        </pc:spChg>
      </pc:sldChg>
      <pc:sldChg chg="addSp delSp modSp mod">
        <pc:chgData name="Huỳnh Tịnh Văn" userId="b2441919-6a35-40a2-a7eb-2f9cbd811ef0" providerId="ADAL" clId="{21223C81-75EF-4F66-92CF-F990B7563824}" dt="2026-05-29T02:35:33.299" v="256" actId="20577"/>
        <pc:sldMkLst>
          <pc:docMk/>
          <pc:sldMk cId="0" sldId="263"/>
        </pc:sldMkLst>
        <pc:spChg chg="del">
          <ac:chgData name="Huỳnh Tịnh Văn" userId="b2441919-6a35-40a2-a7eb-2f9cbd811ef0" providerId="ADAL" clId="{21223C81-75EF-4F66-92CF-F990B7563824}" dt="2026-05-28T14:33:23.148" v="56" actId="478"/>
          <ac:spMkLst>
            <pc:docMk/>
            <pc:sldMk cId="0" sldId="263"/>
            <ac:spMk id="7" creationId="{00000000-0000-0000-0000-000000000000}"/>
          </ac:spMkLst>
        </pc:spChg>
        <pc:spChg chg="mod">
          <ac:chgData name="Huỳnh Tịnh Văn" userId="b2441919-6a35-40a2-a7eb-2f9cbd811ef0" providerId="ADAL" clId="{21223C81-75EF-4F66-92CF-F990B7563824}" dt="2026-05-29T02:35:33.299" v="256" actId="20577"/>
          <ac:spMkLst>
            <pc:docMk/>
            <pc:sldMk cId="0" sldId="263"/>
            <ac:spMk id="56" creationId="{00000000-0000-0000-0000-000000000000}"/>
          </ac:spMkLst>
        </pc:spChg>
        <pc:spChg chg="add mod">
          <ac:chgData name="Huỳnh Tịnh Văn" userId="b2441919-6a35-40a2-a7eb-2f9cbd811ef0" providerId="ADAL" clId="{21223C81-75EF-4F66-92CF-F990B7563824}" dt="2026-05-28T15:24:04.219" v="58"/>
          <ac:spMkLst>
            <pc:docMk/>
            <pc:sldMk cId="0" sldId="263"/>
            <ac:spMk id="62" creationId="{592A3942-0991-0F07-8A70-E049324A734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644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055A5"/>
          </a:solidFill>
          <a:ln w="12700">
            <a:solidFill>
              <a:srgbClr val="005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04BB5"/>
          </a:solidFill>
          <a:ln w="12700">
            <a:solidFill>
              <a:srgbClr val="004B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3063240"/>
            <a:ext cx="6400800" cy="64008"/>
          </a:xfrm>
          <a:prstGeom prst="rect">
            <a:avLst/>
          </a:prstGeom>
          <a:solidFill>
            <a:srgbClr val="E8891A"/>
          </a:solidFill>
          <a:ln w="12700">
            <a:solidFill>
              <a:srgbClr val="E889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411480"/>
            <a:ext cx="2286000" cy="384048"/>
          </a:xfrm>
          <a:prstGeom prst="rect">
            <a:avLst/>
          </a:prstGeom>
          <a:solidFill>
            <a:srgbClr val="E8891A"/>
          </a:solidFill>
          <a:ln w="12700">
            <a:solidFill>
              <a:srgbClr val="E889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SƠ KHAI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 Q&amp;A</a:t>
            </a:r>
            <a:endParaRPr lang="en-US" sz="520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Hỏi Đáp Thông Tin Học Vụ</a:t>
            </a:r>
            <a:endParaRPr lang="en-US" sz="200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Môn Học Trường UIT</a:t>
            </a:r>
            <a:endParaRPr lang="en-US" sz="200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078992" cy="292608"/>
          </a:xfrm>
          <a:prstGeom prst="rect">
            <a:avLst/>
          </a:prstGeom>
          <a:solidFill>
            <a:srgbClr val="00418A"/>
          </a:solidFill>
          <a:ln w="12700">
            <a:solidFill>
              <a:srgbClr val="005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24612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1618488" y="3246120"/>
            <a:ext cx="1078992" cy="292608"/>
          </a:xfrm>
          <a:prstGeom prst="rect">
            <a:avLst/>
          </a:prstGeom>
          <a:solidFill>
            <a:srgbClr val="00418A"/>
          </a:solidFill>
          <a:ln w="12700">
            <a:solidFill>
              <a:srgbClr val="005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618488" y="324612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2779776" y="3246120"/>
            <a:ext cx="1078992" cy="292608"/>
          </a:xfrm>
          <a:prstGeom prst="rect">
            <a:avLst/>
          </a:prstGeom>
          <a:solidFill>
            <a:srgbClr val="00418A"/>
          </a:solidFill>
          <a:ln w="12700">
            <a:solidFill>
              <a:srgbClr val="005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79776" y="324612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3941064" y="3246120"/>
            <a:ext cx="1078992" cy="292608"/>
          </a:xfrm>
          <a:prstGeom prst="rect">
            <a:avLst/>
          </a:prstGeom>
          <a:solidFill>
            <a:srgbClr val="00418A"/>
          </a:solidFill>
          <a:ln w="12700">
            <a:solidFill>
              <a:srgbClr val="005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941064" y="324612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900"/>
          </a:p>
        </p:txBody>
      </p:sp>
      <p:sp>
        <p:nvSpPr>
          <p:cNvPr id="18" name="Shape 16"/>
          <p:cNvSpPr/>
          <p:nvPr/>
        </p:nvSpPr>
        <p:spPr>
          <a:xfrm>
            <a:off x="5102352" y="3246120"/>
            <a:ext cx="1078992" cy="292608"/>
          </a:xfrm>
          <a:prstGeom prst="rect">
            <a:avLst/>
          </a:prstGeom>
          <a:solidFill>
            <a:srgbClr val="00418A"/>
          </a:solidFill>
          <a:ln w="12700">
            <a:solidFill>
              <a:srgbClr val="005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02352" y="324612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Vietnamese NLP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457200" y="44348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78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24521978-23520419•  Trường Đại học Công nghệ Thông tin (UIT)  •  SE365.Q21</a:t>
            </a:r>
            <a:endParaRPr lang="en-US" sz="10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55A5"/>
          </a:solidFill>
          <a:ln w="12700">
            <a:solidFill>
              <a:srgbClr val="005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Giới Thiệu Đề Tài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 Q&amp;A – Chatbot hỏi đáp học vụ UIT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109728" y="4937760"/>
            <a:ext cx="9034272" cy="205740"/>
          </a:xfrm>
          <a:prstGeom prst="rect">
            <a:avLst/>
          </a:prstGeom>
          <a:solidFill>
            <a:srgbClr val="0055A5"/>
          </a:solidFill>
          <a:ln w="12700">
            <a:solidFill>
              <a:srgbClr val="005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3776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 Q&amp;A – Báo cáo sơ khai  |  UIT  |  SE365.Q21</a:t>
            </a:r>
            <a:endParaRPr lang="en-US" sz="900"/>
          </a:p>
        </p:txBody>
      </p:sp>
      <p:sp>
        <p:nvSpPr>
          <p:cNvPr id="8" name="Shape 6"/>
          <p:cNvSpPr/>
          <p:nvPr/>
        </p:nvSpPr>
        <p:spPr>
          <a:xfrm>
            <a:off x="228600" y="1097280"/>
            <a:ext cx="4069080" cy="3611880"/>
          </a:xfrm>
          <a:prstGeom prst="rect">
            <a:avLst/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143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VẤN ĐỀ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320040" y="1508760"/>
            <a:ext cx="393192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viên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UIT (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đặc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biệt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tân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viên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cứu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tin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rời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rạc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khoa,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cổng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đào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website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phòng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CTSV</a:t>
            </a:r>
            <a:endParaRPr lang="en-US" sz="13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biết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chính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mình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ở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nào</a:t>
            </a:r>
            <a:endParaRPr lang="en-US" sz="13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Tốn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sót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hoặc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nhầm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phiên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cũ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ChatGPT/Gemini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UIT</a:t>
            </a:r>
            <a:endParaRPr lang="en-US" sz="13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bịa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chế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môn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thật</a:t>
            </a:r>
            <a:endParaRPr lang="en-US" sz="13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dụ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'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kiện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tốt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nghiệp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KHMT UIT?' →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lời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file PDF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vụ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nằm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tán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đáp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nhất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34840" y="1097280"/>
            <a:ext cx="4526280" cy="3611880"/>
          </a:xfrm>
          <a:prstGeom prst="rect">
            <a:avLst/>
          </a:prstGeom>
          <a:solidFill>
            <a:srgbClr val="EEF4FF"/>
          </a:solidFill>
          <a:ln w="1270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26280" y="11430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GIẢI PHÁP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4526280" y="1508760"/>
            <a:ext cx="4315968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 Q&amp;A: Chatbot </a:t>
            </a:r>
            <a:r>
              <a:rPr lang="en-US" sz="1300" b="1" dirty="0" err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</a:t>
            </a: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đáp</a:t>
            </a: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</a:t>
            </a: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vụ</a:t>
            </a: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UIT</a:t>
            </a:r>
            <a:endParaRPr lang="en-US" sz="13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Dựa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RAG (Retrieval-Augmented Generation)</a:t>
            </a:r>
            <a:endParaRPr lang="en-US" sz="13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trúc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Multi-Agent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nhau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năng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chính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3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Tra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cứu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cương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môn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(Se114, IT001, CS311...)</a:t>
            </a:r>
            <a:endParaRPr lang="en-US" sz="13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Tra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cứu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chế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vụ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tốt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nghiệp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phí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ngành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sở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thích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lời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tiếng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Việt,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trích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dẫn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UIT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55A5"/>
          </a:solidFill>
          <a:ln w="12700">
            <a:solidFill>
              <a:srgbClr val="005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Tính Ứng Dụng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dùng? Dùng để làm gì? Tại sao không chỉ dùng ChatGPT?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109728" y="4937760"/>
            <a:ext cx="9034272" cy="205740"/>
          </a:xfrm>
          <a:prstGeom prst="rect">
            <a:avLst/>
          </a:prstGeom>
          <a:solidFill>
            <a:srgbClr val="0055A5"/>
          </a:solidFill>
          <a:ln w="12700">
            <a:solidFill>
              <a:srgbClr val="005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7160" y="1030732"/>
            <a:ext cx="2880360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308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7160" y="1030732"/>
            <a:ext cx="2880360" cy="45720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0312" y="103987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Sinh Viên UIT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228600" y="1551940"/>
            <a:ext cx="269748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'Môn SE114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bao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nhiêu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cuối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kỳ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chiếm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bao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nhiêu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%?'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'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kiện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bị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vụ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gì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?'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'Môn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nào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buộc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ở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kỳ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ngành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KTPM?'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50" b="1" dirty="0" err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</a:t>
            </a:r>
            <a:r>
              <a:rPr lang="en-US" sz="10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</a:t>
            </a:r>
            <a:r>
              <a:rPr lang="en-US" sz="10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</a:t>
            </a:r>
            <a:r>
              <a:rPr lang="en-US" sz="10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lời</a:t>
            </a:r>
            <a:r>
              <a:rPr lang="en-US" sz="10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ngay</a:t>
            </a:r>
            <a:r>
              <a:rPr lang="en-US" sz="10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b="1" dirty="0" err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0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dẫn</a:t>
            </a:r>
            <a:r>
              <a:rPr lang="en-US" sz="10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</a:t>
            </a:r>
            <a:r>
              <a:rPr lang="en-US" sz="10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</a:t>
            </a:r>
            <a:r>
              <a:rPr lang="en-US" sz="10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file </a:t>
            </a:r>
            <a:r>
              <a:rPr lang="en-US" sz="1050" b="1" dirty="0" err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</a:t>
            </a:r>
            <a:r>
              <a:rPr lang="en-US" sz="10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cương</a:t>
            </a:r>
            <a:r>
              <a:rPr lang="en-US" sz="10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050" b="1" dirty="0" err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</a:t>
            </a:r>
            <a:r>
              <a:rPr lang="en-US" sz="10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chế</a:t>
            </a:r>
            <a:r>
              <a:rPr lang="en-US" sz="10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chính</a:t>
            </a:r>
            <a:r>
              <a:rPr lang="en-US" sz="10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thức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82112" y="1030732"/>
            <a:ext cx="2880360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82112" y="1030732"/>
            <a:ext cx="288036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55264" y="103987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Thí Sinh / Phụ Huynh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3273552" y="1551940"/>
            <a:ext cx="269748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'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A1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24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nên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ngành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nào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ở UIT?'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'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Ngành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mềm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HTTT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nhau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thế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nào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?'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50" b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</a:t>
            </a: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</a:t>
            </a: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</a:t>
            </a: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</a:t>
            </a: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b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</a:t>
            </a: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chiếu</a:t>
            </a: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</a:t>
            </a: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</a:t>
            </a: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</a:t>
            </a: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trước</a:t>
            </a: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b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</a:t>
            </a: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</a:t>
            </a: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ngành</a:t>
            </a: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kèm</a:t>
            </a: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1050" b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cụ</a:t>
            </a: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thể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50" b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</a:t>
            </a: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lời</a:t>
            </a: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chung</a:t>
            </a: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chung</a:t>
            </a: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'</a:t>
            </a:r>
            <a:r>
              <a:rPr lang="en-US" sz="1050" b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bạn</a:t>
            </a: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nên</a:t>
            </a: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</a:t>
            </a: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</a:t>
            </a: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sở</a:t>
            </a: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thích</a:t>
            </a: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27064" y="1030732"/>
            <a:ext cx="2880360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27064" y="1030732"/>
            <a:ext cx="288036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00216" y="103987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Tại Sao Không Dùng ChatGPT?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6318504" y="1551940"/>
            <a:ext cx="269748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biết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UIT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môn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SE330 hay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bịa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ngành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viên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thể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nộp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biết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chế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mới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nhất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2025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của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UIT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UIT Q&amp;A </a:t>
            </a:r>
            <a:r>
              <a:rPr lang="en-US" sz="1050" b="1" dirty="0" err="1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</a:t>
            </a:r>
            <a:r>
              <a:rPr lang="en-US" sz="10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</a:t>
            </a:r>
            <a:r>
              <a:rPr lang="en-US" sz="10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lời</a:t>
            </a:r>
            <a:r>
              <a:rPr lang="en-US" sz="10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</a:t>
            </a:r>
            <a:r>
              <a:rPr lang="en-US" sz="10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10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PDF </a:t>
            </a:r>
            <a:r>
              <a:rPr lang="en-US" sz="1050" b="1" dirty="0" err="1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</a:t>
            </a:r>
            <a:r>
              <a:rPr lang="en-US" sz="10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</a:t>
            </a:r>
            <a:r>
              <a:rPr lang="en-US" sz="10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b="1" dirty="0" err="1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</a:t>
            </a:r>
            <a:r>
              <a:rPr lang="en-US" sz="10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</a:t>
            </a:r>
            <a:r>
              <a:rPr lang="en-US" sz="10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lời</a:t>
            </a:r>
            <a:r>
              <a:rPr lang="en-US" sz="10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luôn</a:t>
            </a:r>
            <a:r>
              <a:rPr lang="en-US" sz="10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0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thể</a:t>
            </a:r>
            <a:r>
              <a:rPr lang="en-US" sz="10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</a:t>
            </a:r>
            <a:r>
              <a:rPr lang="en-US" sz="10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chứng</a:t>
            </a:r>
            <a:r>
              <a:rPr lang="en-US" sz="10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</a:t>
            </a:r>
            <a:r>
              <a:rPr lang="en-US" sz="10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</a:t>
            </a:r>
            <a:endParaRPr lang="en-US" sz="105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2E0896D1-BA26-2053-0539-A830092332C2}"/>
              </a:ext>
            </a:extLst>
          </p:cNvPr>
          <p:cNvSpPr/>
          <p:nvPr/>
        </p:nvSpPr>
        <p:spPr>
          <a:xfrm>
            <a:off x="274320" y="493776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 Q&amp;A – Báo cáo sơ khai  |  UIT  |  SE365.Q21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55A5"/>
          </a:solidFill>
          <a:ln w="12700">
            <a:solidFill>
              <a:srgbClr val="005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Tính Mới So Với Các Giải Pháp Hiện Tại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điểm khác biệt cốt lõi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109728" y="4937760"/>
            <a:ext cx="9034272" cy="205740"/>
          </a:xfrm>
          <a:prstGeom prst="rect">
            <a:avLst/>
          </a:prstGeom>
          <a:solidFill>
            <a:srgbClr val="0055A5"/>
          </a:solidFill>
          <a:ln w="12700">
            <a:solidFill>
              <a:srgbClr val="005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" y="1115568"/>
            <a:ext cx="8759952" cy="841248"/>
          </a:xfrm>
          <a:prstGeom prst="rect">
            <a:avLst/>
          </a:prstGeom>
          <a:solidFill>
            <a:srgbClr val="EEF4FF"/>
          </a:solidFill>
          <a:ln w="1270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1168" y="1115568"/>
            <a:ext cx="64008" cy="84124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115214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ChatGPT/Gemini</a:t>
            </a:r>
            <a:endParaRPr lang="en-US" sz="1150"/>
          </a:p>
        </p:txBody>
      </p:sp>
      <p:sp>
        <p:nvSpPr>
          <p:cNvPr id="11" name="Text 9"/>
          <p:cNvSpPr/>
          <p:nvPr/>
        </p:nvSpPr>
        <p:spPr>
          <a:xfrm>
            <a:off x="347472" y="1408176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UIT →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bịa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môn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chế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tồn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 Q&amp;A: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lời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PDF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UIT →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lời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đều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chứng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1168" y="2039112"/>
            <a:ext cx="8759952" cy="841248"/>
          </a:xfrm>
          <a:prstGeom prst="rect">
            <a:avLst/>
          </a:prstGeom>
          <a:solidFill>
            <a:srgbClr val="F8FBFF"/>
          </a:solidFill>
          <a:ln w="1270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01168" y="2039112"/>
            <a:ext cx="64008" cy="84124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" y="207568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Website UIT / Tìm kiếm Google</a:t>
            </a:r>
            <a:endParaRPr lang="en-US" sz="1150"/>
          </a:p>
        </p:txBody>
      </p:sp>
      <p:sp>
        <p:nvSpPr>
          <p:cNvPr id="15" name="Text 13"/>
          <p:cNvSpPr/>
          <p:nvPr/>
        </p:nvSpPr>
        <p:spPr>
          <a:xfrm>
            <a:off x="347472" y="2331720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Website: người dùng phải biết từ khóa, phải đọc toàn bộ PDF, không tổng hợp đa nguồn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 Q&amp;A: hiểu câu hỏi ngôn ngữ tự nhiên, tổng hợp thông tin từ nhiều file cùng lúc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201168" y="2962656"/>
            <a:ext cx="8759952" cy="841248"/>
          </a:xfrm>
          <a:prstGeom prst="rect">
            <a:avLst/>
          </a:prstGeom>
          <a:solidFill>
            <a:srgbClr val="EEF4FF"/>
          </a:solidFill>
          <a:ln w="1270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01168" y="2962656"/>
            <a:ext cx="64008" cy="8412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472" y="29992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thuật Hybrid Search (BM25 + Semantic)</a:t>
            </a:r>
            <a:endParaRPr lang="en-US" sz="1150"/>
          </a:p>
        </p:txBody>
      </p:sp>
      <p:sp>
        <p:nvSpPr>
          <p:cNvPr id="19" name="Text 17"/>
          <p:cNvSpPr/>
          <p:nvPr/>
        </p:nvSpPr>
        <p:spPr>
          <a:xfrm>
            <a:off x="347472" y="32552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keyword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chính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‘SE114', ‘SE104' (BM25)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lẫn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ngữ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nghĩa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'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lại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sao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?' → '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vụ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 (Vector)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lệ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50:50, Reciprocal Rank Fusion,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lấy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Top-20 candidate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1168" y="3886200"/>
            <a:ext cx="8759952" cy="841248"/>
          </a:xfrm>
          <a:prstGeom prst="rect">
            <a:avLst/>
          </a:prstGeom>
          <a:solidFill>
            <a:srgbClr val="F8FBFF"/>
          </a:solidFill>
          <a:ln w="1270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01168" y="3886200"/>
            <a:ext cx="64008" cy="84124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7472" y="392277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thuật Cross-Encoder Reranking + Vietnamese Embedding</a:t>
            </a:r>
            <a:endParaRPr lang="en-US" sz="1150"/>
          </a:p>
        </p:txBody>
      </p:sp>
      <p:sp>
        <p:nvSpPr>
          <p:cNvPr id="23" name="Text 21"/>
          <p:cNvSpPr/>
          <p:nvPr/>
        </p:nvSpPr>
        <p:spPr>
          <a:xfrm>
            <a:off x="347472" y="4178808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retrieval: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bge-reranker-v2-m3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từng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cặp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Đoạn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văn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 →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Top-3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chính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nhất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tránh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'Lost in the Middle'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Embedding: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Vietnamese_Embedding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(FPT, fine-tune BGE-M3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300k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mẫu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tiếng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Việt) –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ngữ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tiếng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Việt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tốt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hơn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ngôn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ngữ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thường</a:t>
            </a:r>
            <a:endParaRPr lang="en-US" sz="1000" dirty="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22E29453-EE47-8EAC-8D5E-1DE6D78CA67F}"/>
              </a:ext>
            </a:extLst>
          </p:cNvPr>
          <p:cNvSpPr/>
          <p:nvPr/>
        </p:nvSpPr>
        <p:spPr>
          <a:xfrm>
            <a:off x="274320" y="493776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 Q&amp;A – Báo cáo sơ khai  |  UIT  |  SE365.Q21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55A5"/>
          </a:solidFill>
          <a:ln w="12700">
            <a:solidFill>
              <a:srgbClr val="005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Dữ Liệu Thu Thập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 err="1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</a:t>
            </a:r>
            <a:r>
              <a:rPr lang="en-US" sz="11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i="1" dirty="0" err="1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</a:t>
            </a:r>
            <a:r>
              <a:rPr lang="en-US" sz="11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lượng</a:t>
            </a:r>
            <a:r>
              <a:rPr lang="en-US" sz="11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i="1" dirty="0" err="1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đặc</a:t>
            </a:r>
            <a:r>
              <a:rPr lang="en-US" sz="11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</a:t>
            </a:r>
            <a:r>
              <a:rPr lang="en-US" sz="11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file PDF </a:t>
            </a:r>
            <a:r>
              <a:rPr lang="en-US" sz="1100" i="1" dirty="0" err="1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</a:t>
            </a:r>
            <a:r>
              <a:rPr lang="en-US" sz="11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11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</a:t>
            </a:r>
            <a:r>
              <a:rPr lang="en-US" sz="11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</a:t>
            </a:r>
            <a:r>
              <a:rPr lang="en-US" sz="11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</a:t>
            </a:r>
            <a:r>
              <a:rPr lang="en-US" sz="11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UIT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9728" y="4937760"/>
            <a:ext cx="9034272" cy="205740"/>
          </a:xfrm>
          <a:prstGeom prst="rect">
            <a:avLst/>
          </a:prstGeom>
          <a:solidFill>
            <a:srgbClr val="0055A5"/>
          </a:solidFill>
          <a:ln w="12700">
            <a:solidFill>
              <a:srgbClr val="005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" y="111556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01168" y="1627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PDF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1207008" y="1078992"/>
            <a:ext cx="2011680" cy="91440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07008" y="111556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E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/>
          </a:p>
        </p:txBody>
      </p:sp>
      <p:sp>
        <p:nvSpPr>
          <p:cNvPr id="13" name="Text 11"/>
          <p:cNvSpPr/>
          <p:nvPr/>
        </p:nvSpPr>
        <p:spPr>
          <a:xfrm>
            <a:off x="1207008" y="1627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 tài liệu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3419856" y="1078992"/>
            <a:ext cx="2011680" cy="91440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19856" y="111556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E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3400"/>
          </a:p>
        </p:txBody>
      </p:sp>
      <p:sp>
        <p:nvSpPr>
          <p:cNvPr id="16" name="Text 14"/>
          <p:cNvSpPr/>
          <p:nvPr/>
        </p:nvSpPr>
        <p:spPr>
          <a:xfrm>
            <a:off x="3419856" y="1627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đến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5632704" y="1078992"/>
            <a:ext cx="2011680" cy="91440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32704" y="111556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E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/>
          </a:p>
        </p:txBody>
      </p:sp>
      <p:sp>
        <p:nvSpPr>
          <p:cNvPr id="19" name="Text 17"/>
          <p:cNvSpPr/>
          <p:nvPr/>
        </p:nvSpPr>
        <p:spPr>
          <a:xfrm>
            <a:off x="5632704" y="1627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 thu thập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201168" y="2121407"/>
            <a:ext cx="4169664" cy="2724911"/>
          </a:xfrm>
          <a:prstGeom prst="rect">
            <a:avLst/>
          </a:prstGeom>
          <a:solidFill>
            <a:srgbClr val="EEF4FF"/>
          </a:solidFill>
          <a:ln w="1270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92608" y="217627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NGUỒN THU THẬP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292608" y="2523744"/>
            <a:ext cx="4005072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courses.uit.edu.vn – Trang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tin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đào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chính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thức</a:t>
            </a:r>
            <a:endParaRPr lang="en-US" sz="13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file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cương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môn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dạng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PDF</a:t>
            </a:r>
            <a:endParaRPr lang="en-US" sz="13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đào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ngành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KHMT, KTPM, HTTT, ATTT, KHDL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uit.edu.vn – Website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chính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thức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UIT</a:t>
            </a:r>
            <a:endParaRPr lang="en-US" sz="13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chế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đào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vụ</a:t>
            </a:r>
            <a:endParaRPr lang="en-US" sz="13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phí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kiện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tốt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nghiệp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thức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thủ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trực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26280" y="2121408"/>
            <a:ext cx="4434840" cy="2724912"/>
          </a:xfrm>
          <a:prstGeom prst="rect">
            <a:avLst/>
          </a:prstGeom>
          <a:solidFill>
            <a:srgbClr val="F8FBFF"/>
          </a:solidFill>
          <a:ln w="1270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17720" y="21762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NỘI DUNG &amp; ĐẶC ĐIỂM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4617720" y="2523744"/>
            <a:ext cx="4251960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 err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</a:t>
            </a: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cương</a:t>
            </a: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môn</a:t>
            </a: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</a:t>
            </a: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3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hoạch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</a:t>
            </a:r>
            <a:endParaRPr lang="en-US" sz="13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dụ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SE114, SE104, IT001, NT101...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 err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</a:t>
            </a: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</a:t>
            </a: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đào</a:t>
            </a: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</a:t>
            </a: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3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tập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từng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kỳ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sách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môn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buộc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</a:t>
            </a:r>
            <a:r>
              <a:rPr lang="en-US" sz="1300" b="1" dirty="0" err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chế</a:t>
            </a: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</a:t>
            </a: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vụ</a:t>
            </a: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3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chế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2023,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kiện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tốt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nghiệp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Đặc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thù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liên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chéo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giữa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file</a:t>
            </a:r>
            <a:endParaRPr lang="en-US" sz="130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A6AB4FD3-FCC8-18D8-A1F3-F4ABB8C8FA99}"/>
              </a:ext>
            </a:extLst>
          </p:cNvPr>
          <p:cNvSpPr/>
          <p:nvPr/>
        </p:nvSpPr>
        <p:spPr>
          <a:xfrm>
            <a:off x="274320" y="493776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 Q&amp;A – Báo cáo sơ khai  |  UIT  |  SE365.Q21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55A5"/>
          </a:solidFill>
          <a:ln w="12700">
            <a:solidFill>
              <a:srgbClr val="005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Nguyên Tắc Tiền Xử Lý &amp; Gán Nhãn Dữ Liệu (RAG)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RAG, 'gán nhãn' = cấu trúc hóa dữ liệu để tối ưu retrieval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109728" y="4937760"/>
            <a:ext cx="9034272" cy="205740"/>
          </a:xfrm>
          <a:prstGeom prst="rect">
            <a:avLst/>
          </a:prstGeom>
          <a:solidFill>
            <a:srgbClr val="0055A5"/>
          </a:solidFill>
          <a:ln w="12700">
            <a:solidFill>
              <a:srgbClr val="005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" y="1097280"/>
            <a:ext cx="43159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1168" y="1097280"/>
            <a:ext cx="4315968" cy="402336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2608" y="113385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Chunking Theo Tiêu Đề (Title-based)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292608" y="1554480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do: tránh cắt đứt ý giữa chừng; đảm bảo mỗi chunk độc lập và có ý nghĩa</a:t>
            </a:r>
            <a:endParaRPr lang="en-US" sz="950"/>
          </a:p>
        </p:txBody>
      </p:sp>
      <p:sp>
        <p:nvSpPr>
          <p:cNvPr id="12" name="Text 10"/>
          <p:cNvSpPr/>
          <p:nvPr/>
        </p:nvSpPr>
        <p:spPr>
          <a:xfrm>
            <a:off x="292608" y="1938528"/>
            <a:ext cx="41330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làm: phân đoạn theo tiêu đề/mục trong PDF → VD: 'Mục tiêu môn học', 'Chuẩn đầu ra', 'Kế hoạch giảng dạy' → 3 chunk riêng biệt, không trộn lẫn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201168" y="2990088"/>
            <a:ext cx="43159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01168" y="2990088"/>
            <a:ext cx="4315968" cy="402336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92608" y="302666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Chuyển Bảng Biểu → HTML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292608" y="3447288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do: LLM đọc cấu trúc bảng (hàng/cột) qua HTML tốt hơn plaintext bị vỡ format</a:t>
            </a:r>
            <a:endParaRPr lang="en-US" sz="950"/>
          </a:p>
        </p:txBody>
      </p:sp>
      <p:sp>
        <p:nvSpPr>
          <p:cNvPr id="17" name="Text 15"/>
          <p:cNvSpPr/>
          <p:nvPr/>
        </p:nvSpPr>
        <p:spPr>
          <a:xfrm>
            <a:off x="292608" y="3831336"/>
            <a:ext cx="41330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làm: dùng Claude Sonnet 4 để chuyển đổi → bảng kế hoạch giảng dạy, bảng đánh giá được biểu diễn bằng &lt;table&gt;&lt;tr&gt;&lt;td&gt; → không mất thông tin cột</a:t>
            </a:r>
            <a:endParaRPr lang="en-US" sz="950"/>
          </a:p>
        </p:txBody>
      </p:sp>
      <p:sp>
        <p:nvSpPr>
          <p:cNvPr id="18" name="Shape 16"/>
          <p:cNvSpPr/>
          <p:nvPr/>
        </p:nvSpPr>
        <p:spPr>
          <a:xfrm>
            <a:off x="4681728" y="1097280"/>
            <a:ext cx="43159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81728" y="1097280"/>
            <a:ext cx="4315968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73168" y="113385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Thêm Prefix Tóm Tắt (Summarization Prefix)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4773168" y="1554480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do: khi retrieval, LLM cần biết chunk này thuộc tài liệu nào, mô tả gì</a:t>
            </a:r>
            <a:endParaRPr lang="en-US" sz="950"/>
          </a:p>
        </p:txBody>
      </p:sp>
      <p:sp>
        <p:nvSpPr>
          <p:cNvPr id="22" name="Text 20"/>
          <p:cNvSpPr/>
          <p:nvPr/>
        </p:nvSpPr>
        <p:spPr>
          <a:xfrm>
            <a:off x="4773168" y="1938528"/>
            <a:ext cx="41330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chunk </a:t>
            </a:r>
            <a:r>
              <a:rPr lang="en-US" sz="9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1-2 </a:t>
            </a:r>
            <a:r>
              <a:rPr lang="en-US" sz="9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VD: 'Tài </a:t>
            </a:r>
            <a:r>
              <a:rPr lang="en-US" sz="9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này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giáo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môn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Toán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KHMT </a:t>
            </a:r>
            <a:r>
              <a:rPr lang="en-US" sz="9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UIT, </a:t>
            </a:r>
            <a:r>
              <a:rPr lang="en-US" sz="9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bày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dung </a:t>
            </a:r>
            <a:r>
              <a:rPr lang="en-US" sz="9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dạy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4-15'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81728" y="2990088"/>
            <a:ext cx="43159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81728" y="2990088"/>
            <a:ext cx="4315968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73168" y="302666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Gán Metadata Có Cấu Trúc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4773168" y="3447288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do: phục vụ trích dẫn nguồn trong câu trả lời; hỗ trợ lọc trước khi tìm kiếm</a:t>
            </a:r>
            <a:endParaRPr lang="en-US" sz="950"/>
          </a:p>
        </p:txBody>
      </p:sp>
      <p:sp>
        <p:nvSpPr>
          <p:cNvPr id="27" name="Text 25"/>
          <p:cNvSpPr/>
          <p:nvPr/>
        </p:nvSpPr>
        <p:spPr>
          <a:xfrm>
            <a:off x="4773168" y="3831336"/>
            <a:ext cx="41330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chunk </a:t>
            </a:r>
            <a:r>
              <a:rPr lang="en-US" sz="9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filename (SE114 - DE CUONG.pdf), </a:t>
            </a:r>
            <a:r>
              <a:rPr lang="en-US" sz="9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page_number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filetype, language → </a:t>
            </a:r>
            <a:r>
              <a:rPr lang="en-US" sz="9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để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thị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'</a:t>
            </a:r>
            <a:r>
              <a:rPr lang="en-US" sz="9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...' </a:t>
            </a:r>
            <a:r>
              <a:rPr lang="en-US" sz="9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lời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62856" y="1097280"/>
            <a:ext cx="54864" cy="3630168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D7AF7F1A-5354-9A5D-6210-2610231E32ED}"/>
              </a:ext>
            </a:extLst>
          </p:cNvPr>
          <p:cNvSpPr/>
          <p:nvPr/>
        </p:nvSpPr>
        <p:spPr>
          <a:xfrm>
            <a:off x="274320" y="493776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 Q&amp;A – Báo cáo sơ khai  |  UIT  |  SE365.Q21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55A5"/>
          </a:solidFill>
          <a:ln w="12700">
            <a:solidFill>
              <a:srgbClr val="005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Dự Kiến Hướng Triển Khai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phân tầng RAG + Multi-Agent – đã và đang thực hiện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109728" y="4937760"/>
            <a:ext cx="9034272" cy="205740"/>
          </a:xfrm>
          <a:prstGeom prst="rect">
            <a:avLst/>
          </a:prstGeom>
          <a:solidFill>
            <a:srgbClr val="0055A5"/>
          </a:solidFill>
          <a:ln w="12700">
            <a:solidFill>
              <a:srgbClr val="005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8348" y="1078992"/>
            <a:ext cx="1508760" cy="138988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4068" y="1115568"/>
            <a:ext cx="14173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Data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07108" y="1664208"/>
            <a:ext cx="338328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35708" y="1563624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2144268" y="1078992"/>
            <a:ext cx="1508760" cy="1389888"/>
          </a:xfrm>
          <a:prstGeom prst="rect">
            <a:avLst/>
          </a:prstGeom>
          <a:solidFill>
            <a:srgbClr val="EEF4FF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189988" y="1115568"/>
            <a:ext cx="14173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/>
          </a:p>
          <a:p>
            <a:pPr marL="0" indent="0" algn="ctr">
              <a:buNone/>
            </a:pPr>
            <a:r>
              <a:rPr lang="en-US" sz="950" b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950"/>
          </a:p>
          <a:p>
            <a:pPr marL="0" indent="0" algn="ctr">
              <a:buNone/>
            </a:pPr>
            <a:r>
              <a:rPr lang="en-US" sz="950" b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(Load→Chunk</a:t>
            </a:r>
            <a:endParaRPr lang="en-US" sz="950"/>
          </a:p>
          <a:p>
            <a:pPr marL="0" indent="0" algn="ctr">
              <a:buNone/>
            </a:pPr>
            <a:r>
              <a:rPr lang="en-US" sz="950" b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→Embed→Store)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3653028" y="1664208"/>
            <a:ext cx="338328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81628" y="1563624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3845052" y="1078992"/>
            <a:ext cx="1508760" cy="1389888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90772" y="1115568"/>
            <a:ext cx="14173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950"/>
          </a:p>
          <a:p>
            <a:pPr marL="0" indent="0" algn="ctr">
              <a:buNone/>
            </a:pPr>
            <a:r>
              <a:rPr lang="en-US" sz="950" b="1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950"/>
          </a:p>
          <a:p>
            <a:pPr marL="0" indent="0" algn="ctr">
              <a:buNone/>
            </a:pPr>
            <a:r>
              <a:rPr lang="en-US" sz="950" b="1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(1024-dim,</a:t>
            </a:r>
            <a:endParaRPr lang="en-US" sz="950"/>
          </a:p>
          <a:p>
            <a:pPr marL="0" indent="0" algn="ctr">
              <a:buNone/>
            </a:pPr>
            <a:r>
              <a:rPr lang="en-US" sz="950" b="1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Cosine)</a:t>
            </a:r>
            <a:endParaRPr lang="en-US" sz="950"/>
          </a:p>
        </p:txBody>
      </p:sp>
      <p:sp>
        <p:nvSpPr>
          <p:cNvPr id="18" name="Shape 16"/>
          <p:cNvSpPr/>
          <p:nvPr/>
        </p:nvSpPr>
        <p:spPr>
          <a:xfrm>
            <a:off x="5353812" y="1664208"/>
            <a:ext cx="338328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582412" y="1563624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5545836" y="1078992"/>
            <a:ext cx="1508760" cy="1389888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591556" y="1115568"/>
            <a:ext cx="14173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Service</a:t>
            </a:r>
            <a:endParaRPr lang="en-US" sz="950"/>
          </a:p>
          <a:p>
            <a:pPr marL="0" indent="0" algn="ctr">
              <a:buNone/>
            </a:pPr>
            <a:r>
              <a:rPr lang="en-US" sz="950" b="1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(Guardrail→</a:t>
            </a:r>
            <a:endParaRPr lang="en-US" sz="950"/>
          </a:p>
          <a:p>
            <a:pPr marL="0" indent="0" algn="ctr">
              <a:buNone/>
            </a:pPr>
            <a:r>
              <a:rPr lang="en-US" sz="950" b="1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Planner→Tools</a:t>
            </a:r>
            <a:endParaRPr lang="en-US" sz="950"/>
          </a:p>
          <a:p>
            <a:pPr marL="0" indent="0" algn="ctr">
              <a:buNone/>
            </a:pPr>
            <a:r>
              <a:rPr lang="en-US" sz="950" b="1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→Generator)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7054596" y="1664208"/>
            <a:ext cx="338328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283196" y="1563624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7246620" y="1078992"/>
            <a:ext cx="1508760" cy="138988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292340" y="1115568"/>
            <a:ext cx="14173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</a:t>
            </a:r>
            <a:endParaRPr lang="en-US" sz="950"/>
          </a:p>
          <a:p>
            <a:pPr marL="0" indent="0" algn="ctr">
              <a:buNone/>
            </a:pPr>
            <a:r>
              <a:rPr lang="en-US" sz="950" b="1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ReactJS</a:t>
            </a:r>
            <a:endParaRPr lang="en-US" sz="950"/>
          </a:p>
          <a:p>
            <a:pPr marL="0" indent="0" algn="ctr">
              <a:buNone/>
            </a:pPr>
            <a:r>
              <a:rPr lang="en-US" sz="950" b="1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(Vercel +</a:t>
            </a:r>
            <a:endParaRPr lang="en-US" sz="950"/>
          </a:p>
          <a:p>
            <a:pPr marL="0" indent="0" algn="ctr">
              <a:buNone/>
            </a:pPr>
            <a:r>
              <a:rPr lang="en-US" sz="950" b="1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Railway)</a:t>
            </a:r>
            <a:endParaRPr lang="en-US" sz="950"/>
          </a:p>
        </p:txBody>
      </p:sp>
      <p:sp>
        <p:nvSpPr>
          <p:cNvPr id="26" name="Text 24"/>
          <p:cNvSpPr/>
          <p:nvPr/>
        </p:nvSpPr>
        <p:spPr>
          <a:xfrm>
            <a:off x="201168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 SỬ DỤNG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01168" y="2926080"/>
            <a:ext cx="4251960" cy="502920"/>
          </a:xfrm>
          <a:prstGeom prst="rect">
            <a:avLst/>
          </a:prstGeom>
          <a:solidFill>
            <a:srgbClr val="EEF4FF"/>
          </a:solidFill>
          <a:ln w="1270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01168" y="2926080"/>
            <a:ext cx="45720" cy="502920"/>
          </a:xfrm>
          <a:prstGeom prst="rect">
            <a:avLst/>
          </a:prstGeom>
          <a:solidFill>
            <a:srgbClr val="E8891A"/>
          </a:solidFill>
          <a:ln w="12700">
            <a:solidFill>
              <a:srgbClr val="E889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10896" y="296265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LangGraph</a:t>
            </a:r>
            <a:endParaRPr lang="en-US" sz="1050"/>
          </a:p>
        </p:txBody>
      </p:sp>
      <p:sp>
        <p:nvSpPr>
          <p:cNvPr id="30" name="Text 28"/>
          <p:cNvSpPr/>
          <p:nvPr/>
        </p:nvSpPr>
        <p:spPr>
          <a:xfrm>
            <a:off x="310896" y="318211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&amp; Multi-Agent</a:t>
            </a:r>
            <a:endParaRPr lang="en-US" sz="950"/>
          </a:p>
        </p:txBody>
      </p:sp>
      <p:sp>
        <p:nvSpPr>
          <p:cNvPr id="31" name="Shape 29"/>
          <p:cNvSpPr/>
          <p:nvPr/>
        </p:nvSpPr>
        <p:spPr>
          <a:xfrm>
            <a:off x="201168" y="3511296"/>
            <a:ext cx="4251960" cy="502920"/>
          </a:xfrm>
          <a:prstGeom prst="rect">
            <a:avLst/>
          </a:prstGeom>
          <a:solidFill>
            <a:srgbClr val="EEF4FF"/>
          </a:solidFill>
          <a:ln w="1270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01168" y="3511296"/>
            <a:ext cx="45720" cy="502920"/>
          </a:xfrm>
          <a:prstGeom prst="rect">
            <a:avLst/>
          </a:prstGeom>
          <a:solidFill>
            <a:srgbClr val="E8891A"/>
          </a:solidFill>
          <a:ln w="12700">
            <a:solidFill>
              <a:srgbClr val="E889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10896" y="354787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Vietnamese_Embedding (FPT)</a:t>
            </a:r>
            <a:endParaRPr lang="en-US" sz="1050"/>
          </a:p>
        </p:txBody>
      </p:sp>
      <p:sp>
        <p:nvSpPr>
          <p:cNvPr id="34" name="Text 32"/>
          <p:cNvSpPr/>
          <p:nvPr/>
        </p:nvSpPr>
        <p:spPr>
          <a:xfrm>
            <a:off x="310896" y="376732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hóa vector tiếng Việt (BGE-M3)</a:t>
            </a:r>
            <a:endParaRPr lang="en-US" sz="950"/>
          </a:p>
        </p:txBody>
      </p:sp>
      <p:sp>
        <p:nvSpPr>
          <p:cNvPr id="35" name="Shape 33"/>
          <p:cNvSpPr/>
          <p:nvPr/>
        </p:nvSpPr>
        <p:spPr>
          <a:xfrm>
            <a:off x="201168" y="4096512"/>
            <a:ext cx="4251960" cy="502920"/>
          </a:xfrm>
          <a:prstGeom prst="rect">
            <a:avLst/>
          </a:prstGeom>
          <a:solidFill>
            <a:srgbClr val="EEF4FF"/>
          </a:solidFill>
          <a:ln w="1270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01168" y="4096512"/>
            <a:ext cx="45720" cy="502920"/>
          </a:xfrm>
          <a:prstGeom prst="rect">
            <a:avLst/>
          </a:prstGeom>
          <a:solidFill>
            <a:srgbClr val="E8891A"/>
          </a:solidFill>
          <a:ln w="12700">
            <a:solidFill>
              <a:srgbClr val="E889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10896" y="413308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GPT-OSS-120B via Groq</a:t>
            </a:r>
            <a:endParaRPr lang="en-US" sz="1050"/>
          </a:p>
        </p:txBody>
      </p:sp>
      <p:sp>
        <p:nvSpPr>
          <p:cNvPr id="38" name="Text 36"/>
          <p:cNvSpPr/>
          <p:nvPr/>
        </p:nvSpPr>
        <p:spPr>
          <a:xfrm>
            <a:off x="310896" y="435254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chính – 128K context, 500 tok/s</a:t>
            </a:r>
            <a:endParaRPr lang="en-US" sz="950"/>
          </a:p>
        </p:txBody>
      </p:sp>
      <p:sp>
        <p:nvSpPr>
          <p:cNvPr id="39" name="Shape 37"/>
          <p:cNvSpPr/>
          <p:nvPr/>
        </p:nvSpPr>
        <p:spPr>
          <a:xfrm>
            <a:off x="4663440" y="2926080"/>
            <a:ext cx="4251960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663440" y="2926080"/>
            <a:ext cx="45720" cy="502920"/>
          </a:xfrm>
          <a:prstGeom prst="rect">
            <a:avLst/>
          </a:prstGeom>
          <a:solidFill>
            <a:srgbClr val="E8891A"/>
          </a:solidFill>
          <a:ln w="12700">
            <a:solidFill>
              <a:srgbClr val="E889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73168" y="296265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bge-reranker-v2-m3 (FPT)</a:t>
            </a:r>
            <a:endParaRPr lang="en-US" sz="1050"/>
          </a:p>
        </p:txBody>
      </p:sp>
      <p:sp>
        <p:nvSpPr>
          <p:cNvPr id="42" name="Text 40"/>
          <p:cNvSpPr/>
          <p:nvPr/>
        </p:nvSpPr>
        <p:spPr>
          <a:xfrm>
            <a:off x="4773168" y="318211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reranking</a:t>
            </a:r>
            <a:endParaRPr lang="en-US" sz="950"/>
          </a:p>
        </p:txBody>
      </p:sp>
      <p:sp>
        <p:nvSpPr>
          <p:cNvPr id="43" name="Shape 41"/>
          <p:cNvSpPr/>
          <p:nvPr/>
        </p:nvSpPr>
        <p:spPr>
          <a:xfrm>
            <a:off x="4663440" y="3511296"/>
            <a:ext cx="4251960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663440" y="3511296"/>
            <a:ext cx="45720" cy="502920"/>
          </a:xfrm>
          <a:prstGeom prst="rect">
            <a:avLst/>
          </a:prstGeom>
          <a:solidFill>
            <a:srgbClr val="E8891A"/>
          </a:solidFill>
          <a:ln w="12700">
            <a:solidFill>
              <a:srgbClr val="E889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773168" y="354787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1050"/>
          </a:p>
        </p:txBody>
      </p:sp>
      <p:sp>
        <p:nvSpPr>
          <p:cNvPr id="46" name="Text 44"/>
          <p:cNvSpPr/>
          <p:nvPr/>
        </p:nvSpPr>
        <p:spPr>
          <a:xfrm>
            <a:off x="4773168" y="376732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– HNSW, Cosine</a:t>
            </a:r>
            <a:endParaRPr lang="en-US" sz="950"/>
          </a:p>
        </p:txBody>
      </p:sp>
      <p:sp>
        <p:nvSpPr>
          <p:cNvPr id="47" name="Shape 45"/>
          <p:cNvSpPr/>
          <p:nvPr/>
        </p:nvSpPr>
        <p:spPr>
          <a:xfrm>
            <a:off x="4663440" y="4096512"/>
            <a:ext cx="4251960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663440" y="4096512"/>
            <a:ext cx="45720" cy="502920"/>
          </a:xfrm>
          <a:prstGeom prst="rect">
            <a:avLst/>
          </a:prstGeom>
          <a:solidFill>
            <a:srgbClr val="E8891A"/>
          </a:solidFill>
          <a:ln w="12700">
            <a:solidFill>
              <a:srgbClr val="E889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773168" y="413308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Gateway</a:t>
            </a:r>
            <a:endParaRPr lang="en-US" sz="1050"/>
          </a:p>
        </p:txBody>
      </p:sp>
      <p:sp>
        <p:nvSpPr>
          <p:cNvPr id="50" name="Text 48"/>
          <p:cNvSpPr/>
          <p:nvPr/>
        </p:nvSpPr>
        <p:spPr>
          <a:xfrm>
            <a:off x="4773168" y="435254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fallback LLM providers</a:t>
            </a:r>
            <a:endParaRPr lang="en-US" sz="950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AAF14DCD-BF2E-F347-343C-4E3564372B52}"/>
              </a:ext>
            </a:extLst>
          </p:cNvPr>
          <p:cNvSpPr/>
          <p:nvPr/>
        </p:nvSpPr>
        <p:spPr>
          <a:xfrm>
            <a:off x="274320" y="493776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 Q&amp;A – Báo cáo sơ khai  |  UIT  |  SE365.Q21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55A5"/>
          </a:solidFill>
          <a:ln w="12700">
            <a:solidFill>
              <a:srgbClr val="005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Công Việc Sắp Tới &amp; Các Mốc Thực Hiện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3 tuần – 2 thành viên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109728" y="4937760"/>
            <a:ext cx="9034272" cy="205740"/>
          </a:xfrm>
          <a:prstGeom prst="rect">
            <a:avLst/>
          </a:prstGeom>
          <a:solidFill>
            <a:srgbClr val="0055A5"/>
          </a:solidFill>
          <a:ln w="12700">
            <a:solidFill>
              <a:srgbClr val="005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" y="1078992"/>
            <a:ext cx="2816352" cy="3657600"/>
          </a:xfrm>
          <a:prstGeom prst="rect">
            <a:avLst/>
          </a:prstGeom>
          <a:solidFill>
            <a:srgbClr val="FFF8E7"/>
          </a:solidFill>
          <a:ln w="12700">
            <a:solidFill>
              <a:srgbClr val="E889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1168" y="1078992"/>
            <a:ext cx="2816352" cy="566928"/>
          </a:xfrm>
          <a:prstGeom prst="rect">
            <a:avLst/>
          </a:prstGeom>
          <a:solidFill>
            <a:srgbClr val="E8891A"/>
          </a:solidFill>
          <a:ln w="12700">
            <a:solidFill>
              <a:srgbClr val="E889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1064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1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274320" y="1371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&amp; Pipeline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310896" y="1737360"/>
            <a:ext cx="257860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89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0896" y="1737360"/>
            <a:ext cx="54864" cy="603504"/>
          </a:xfrm>
          <a:prstGeom prst="rect">
            <a:avLst/>
          </a:prstGeom>
          <a:solidFill>
            <a:srgbClr val="E8891A"/>
          </a:solidFill>
          <a:ln w="12700">
            <a:solidFill>
              <a:srgbClr val="E889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2336" y="1773936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&amp; bổ sung dữ liệu: thêm thông báo học vụ 2025 còn thiếu</a:t>
            </a:r>
            <a:endParaRPr lang="en-US" sz="880"/>
          </a:p>
        </p:txBody>
      </p:sp>
      <p:sp>
        <p:nvSpPr>
          <p:cNvPr id="15" name="Shape 13"/>
          <p:cNvSpPr/>
          <p:nvPr/>
        </p:nvSpPr>
        <p:spPr>
          <a:xfrm>
            <a:off x="310896" y="2423160"/>
            <a:ext cx="257860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89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10896" y="2423160"/>
            <a:ext cx="54864" cy="603504"/>
          </a:xfrm>
          <a:prstGeom prst="rect">
            <a:avLst/>
          </a:prstGeom>
          <a:solidFill>
            <a:srgbClr val="E8891A"/>
          </a:solidFill>
          <a:ln w="12700">
            <a:solidFill>
              <a:srgbClr val="E889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02336" y="2459736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lại toàn bộ pipeline ingestion: Load → Chunk (Title) → Prefix → Embed → Store vào Qdrant</a:t>
            </a:r>
            <a:endParaRPr lang="en-US" sz="880"/>
          </a:p>
        </p:txBody>
      </p:sp>
      <p:sp>
        <p:nvSpPr>
          <p:cNvPr id="18" name="Shape 16"/>
          <p:cNvSpPr/>
          <p:nvPr/>
        </p:nvSpPr>
        <p:spPr>
          <a:xfrm>
            <a:off x="310896" y="3108960"/>
            <a:ext cx="257860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89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10896" y="3108960"/>
            <a:ext cx="54864" cy="603504"/>
          </a:xfrm>
          <a:prstGeom prst="rect">
            <a:avLst/>
          </a:prstGeom>
          <a:solidFill>
            <a:srgbClr val="E8891A"/>
          </a:solidFill>
          <a:ln w="12700">
            <a:solidFill>
              <a:srgbClr val="E889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02336" y="3145536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metadata từng chunk: filename, page_number đúng định dạng</a:t>
            </a:r>
            <a:endParaRPr lang="en-US" sz="880"/>
          </a:p>
        </p:txBody>
      </p:sp>
      <p:sp>
        <p:nvSpPr>
          <p:cNvPr id="21" name="Shape 19"/>
          <p:cNvSpPr/>
          <p:nvPr/>
        </p:nvSpPr>
        <p:spPr>
          <a:xfrm>
            <a:off x="310896" y="3794760"/>
            <a:ext cx="257860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89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10896" y="3794760"/>
            <a:ext cx="54864" cy="603504"/>
          </a:xfrm>
          <a:prstGeom prst="rect">
            <a:avLst/>
          </a:prstGeom>
          <a:solidFill>
            <a:srgbClr val="E8891A"/>
          </a:solidFill>
          <a:ln w="12700">
            <a:solidFill>
              <a:srgbClr val="E889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02336" y="3831336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script tự động hóa pipeline (tránh làm thủ công khi có file mới)</a:t>
            </a:r>
            <a:endParaRPr lang="en-US" sz="880"/>
          </a:p>
        </p:txBody>
      </p:sp>
      <p:sp>
        <p:nvSpPr>
          <p:cNvPr id="24" name="Shape 22"/>
          <p:cNvSpPr/>
          <p:nvPr/>
        </p:nvSpPr>
        <p:spPr>
          <a:xfrm>
            <a:off x="310896" y="4498848"/>
            <a:ext cx="2578608" cy="182880"/>
          </a:xfrm>
          <a:prstGeom prst="rect">
            <a:avLst/>
          </a:prstGeom>
          <a:solidFill>
            <a:srgbClr val="E8891A"/>
          </a:solidFill>
          <a:ln w="12700">
            <a:solidFill>
              <a:srgbClr val="E889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9184" y="4498848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Cả 2 thành viên</a:t>
            </a:r>
            <a:endParaRPr lang="en-US" sz="850"/>
          </a:p>
        </p:txBody>
      </p:sp>
      <p:sp>
        <p:nvSpPr>
          <p:cNvPr id="26" name="Shape 24"/>
          <p:cNvSpPr/>
          <p:nvPr/>
        </p:nvSpPr>
        <p:spPr>
          <a:xfrm>
            <a:off x="3182112" y="1078992"/>
            <a:ext cx="2816352" cy="3657600"/>
          </a:xfrm>
          <a:prstGeom prst="rect">
            <a:avLst/>
          </a:prstGeom>
          <a:solidFill>
            <a:srgbClr val="EEF4FF"/>
          </a:solidFill>
          <a:ln w="12700">
            <a:solidFill>
              <a:srgbClr val="005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182112" y="1078992"/>
            <a:ext cx="2816352" cy="566928"/>
          </a:xfrm>
          <a:prstGeom prst="rect">
            <a:avLst/>
          </a:prstGeom>
          <a:solidFill>
            <a:srgbClr val="0055A5"/>
          </a:solidFill>
          <a:ln w="12700">
            <a:solidFill>
              <a:srgbClr val="005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55264" y="11064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2</a:t>
            </a:r>
            <a:endParaRPr lang="en-US" sz="1300"/>
          </a:p>
        </p:txBody>
      </p:sp>
      <p:sp>
        <p:nvSpPr>
          <p:cNvPr id="29" name="Text 27"/>
          <p:cNvSpPr/>
          <p:nvPr/>
        </p:nvSpPr>
        <p:spPr>
          <a:xfrm>
            <a:off x="3255264" y="1371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 RAG &amp; Agent</a:t>
            </a:r>
            <a:endParaRPr lang="en-US" sz="950"/>
          </a:p>
        </p:txBody>
      </p:sp>
      <p:sp>
        <p:nvSpPr>
          <p:cNvPr id="30" name="Shape 28"/>
          <p:cNvSpPr/>
          <p:nvPr/>
        </p:nvSpPr>
        <p:spPr>
          <a:xfrm>
            <a:off x="3291840" y="1737360"/>
            <a:ext cx="257860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91840" y="1737360"/>
            <a:ext cx="54864" cy="603504"/>
          </a:xfrm>
          <a:prstGeom prst="rect">
            <a:avLst/>
          </a:prstGeom>
          <a:solidFill>
            <a:srgbClr val="0055A5"/>
          </a:solidFill>
          <a:ln w="12700">
            <a:solidFill>
              <a:srgbClr val="005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383280" y="1773936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Tinh chỉnh Hybrid Search: thử nghiệm tỷ lệ BM25/Vector (50:50 → 40:60) trên tập câu hỏi thử</a:t>
            </a:r>
            <a:endParaRPr lang="en-US" sz="880"/>
          </a:p>
        </p:txBody>
      </p:sp>
      <p:sp>
        <p:nvSpPr>
          <p:cNvPr id="33" name="Shape 31"/>
          <p:cNvSpPr/>
          <p:nvPr/>
        </p:nvSpPr>
        <p:spPr>
          <a:xfrm>
            <a:off x="3291840" y="2423160"/>
            <a:ext cx="257860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291840" y="2423160"/>
            <a:ext cx="54864" cy="603504"/>
          </a:xfrm>
          <a:prstGeom prst="rect">
            <a:avLst/>
          </a:prstGeom>
          <a:solidFill>
            <a:srgbClr val="0055A5"/>
          </a:solidFill>
          <a:ln w="12700">
            <a:solidFill>
              <a:srgbClr val="005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383280" y="2459736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Cải thiện Prompt cho Advisor Agent (Chain-of-Thought): bổ sung mẫu Few-shot với điểm chuẩn 2024</a:t>
            </a:r>
            <a:endParaRPr lang="en-US" sz="880"/>
          </a:p>
        </p:txBody>
      </p:sp>
      <p:sp>
        <p:nvSpPr>
          <p:cNvPr id="36" name="Shape 34"/>
          <p:cNvSpPr/>
          <p:nvPr/>
        </p:nvSpPr>
        <p:spPr>
          <a:xfrm>
            <a:off x="3291840" y="3108960"/>
            <a:ext cx="257860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291840" y="3108960"/>
            <a:ext cx="54864" cy="603504"/>
          </a:xfrm>
          <a:prstGeom prst="rect">
            <a:avLst/>
          </a:prstGeom>
          <a:solidFill>
            <a:srgbClr val="0055A5"/>
          </a:solidFill>
          <a:ln w="12700">
            <a:solidFill>
              <a:srgbClr val="005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383280" y="3145536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10 test case theo 5 Use Case (UC-1 đến UC-5)</a:t>
            </a:r>
            <a:endParaRPr lang="en-US" sz="880"/>
          </a:p>
        </p:txBody>
      </p:sp>
      <p:sp>
        <p:nvSpPr>
          <p:cNvPr id="39" name="Shape 37"/>
          <p:cNvSpPr/>
          <p:nvPr/>
        </p:nvSpPr>
        <p:spPr>
          <a:xfrm>
            <a:off x="3291840" y="3794760"/>
            <a:ext cx="257860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291840" y="3794760"/>
            <a:ext cx="54864" cy="603504"/>
          </a:xfrm>
          <a:prstGeom prst="rect">
            <a:avLst/>
          </a:prstGeom>
          <a:solidFill>
            <a:srgbClr val="0055A5"/>
          </a:solidFill>
          <a:ln w="12700">
            <a:solidFill>
              <a:srgbClr val="005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383280" y="3831336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thiện giao diện Frontend: thêm nút Reset conversation, hiển thị nguồn trích dẫn</a:t>
            </a:r>
            <a:endParaRPr lang="en-US" sz="880"/>
          </a:p>
        </p:txBody>
      </p:sp>
      <p:sp>
        <p:nvSpPr>
          <p:cNvPr id="42" name="Shape 40"/>
          <p:cNvSpPr/>
          <p:nvPr/>
        </p:nvSpPr>
        <p:spPr>
          <a:xfrm>
            <a:off x="3291840" y="4498848"/>
            <a:ext cx="2578608" cy="182880"/>
          </a:xfrm>
          <a:prstGeom prst="rect">
            <a:avLst/>
          </a:prstGeom>
          <a:solidFill>
            <a:srgbClr val="0055A5"/>
          </a:solidFill>
          <a:ln w="12700">
            <a:solidFill>
              <a:srgbClr val="005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310128" y="4498848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TV1: RAG/Agent | TV2: Frontend + Test</a:t>
            </a:r>
            <a:endParaRPr lang="en-US" sz="850"/>
          </a:p>
        </p:txBody>
      </p:sp>
      <p:sp>
        <p:nvSpPr>
          <p:cNvPr id="44" name="Shape 42"/>
          <p:cNvSpPr/>
          <p:nvPr/>
        </p:nvSpPr>
        <p:spPr>
          <a:xfrm>
            <a:off x="6163056" y="1078992"/>
            <a:ext cx="2816352" cy="3657600"/>
          </a:xfrm>
          <a:prstGeom prst="rect">
            <a:avLst/>
          </a:prstGeom>
          <a:solidFill>
            <a:srgbClr val="E8F5E9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163056" y="1078992"/>
            <a:ext cx="2816352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236208" y="11064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3</a:t>
            </a:r>
            <a:endParaRPr lang="en-US" sz="1300"/>
          </a:p>
        </p:txBody>
      </p:sp>
      <p:sp>
        <p:nvSpPr>
          <p:cNvPr id="47" name="Text 45"/>
          <p:cNvSpPr/>
          <p:nvPr/>
        </p:nvSpPr>
        <p:spPr>
          <a:xfrm>
            <a:off x="6236208" y="1371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&amp; Báo cáo</a:t>
            </a:r>
            <a:endParaRPr lang="en-US" sz="950"/>
          </a:p>
        </p:txBody>
      </p:sp>
      <p:sp>
        <p:nvSpPr>
          <p:cNvPr id="48" name="Shape 46"/>
          <p:cNvSpPr/>
          <p:nvPr/>
        </p:nvSpPr>
        <p:spPr>
          <a:xfrm>
            <a:off x="6272784" y="1737360"/>
            <a:ext cx="257860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272784" y="1737360"/>
            <a:ext cx="54864" cy="60350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364224" y="1773936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10 test case, ghi nhận pass/fail, chụp màn hình minh chứng</a:t>
            </a:r>
            <a:endParaRPr lang="en-US" sz="880"/>
          </a:p>
        </p:txBody>
      </p:sp>
      <p:sp>
        <p:nvSpPr>
          <p:cNvPr id="51" name="Shape 49"/>
          <p:cNvSpPr/>
          <p:nvPr/>
        </p:nvSpPr>
        <p:spPr>
          <a:xfrm>
            <a:off x="6272784" y="2423160"/>
            <a:ext cx="257860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272784" y="2423160"/>
            <a:ext cx="54864" cy="60350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364224" y="2459736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định tính: độ chính xác nội dung, trích dẫn đúng nguồn, từ chối câu hỏi ngoài phạm vi</a:t>
            </a:r>
            <a:endParaRPr lang="en-US" sz="880"/>
          </a:p>
        </p:txBody>
      </p:sp>
      <p:sp>
        <p:nvSpPr>
          <p:cNvPr id="54" name="Shape 52"/>
          <p:cNvSpPr/>
          <p:nvPr/>
        </p:nvSpPr>
        <p:spPr>
          <a:xfrm>
            <a:off x="6272784" y="3108960"/>
            <a:ext cx="257860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272784" y="3108960"/>
            <a:ext cx="54864" cy="60350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364224" y="3145536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</a:t>
            </a:r>
            <a:r>
              <a:rPr lang="en-US" sz="8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8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</a:t>
            </a:r>
            <a:r>
              <a:rPr lang="en-US" sz="8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 test case </a:t>
            </a:r>
            <a:r>
              <a:rPr lang="en-US" sz="88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</a:t>
            </a:r>
            <a:r>
              <a:rPr lang="en-US" sz="8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8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đạt</a:t>
            </a:r>
            <a:r>
              <a:rPr lang="en-US" sz="8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(TC-2: </a:t>
            </a:r>
            <a:r>
              <a:rPr lang="en-US" sz="88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mâu</a:t>
            </a:r>
            <a:r>
              <a:rPr lang="en-US" sz="8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8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thuẫn</a:t>
            </a:r>
            <a:r>
              <a:rPr lang="en-US" sz="8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8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8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8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</a:t>
            </a:r>
            <a:r>
              <a:rPr lang="en-US" sz="8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8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</a:t>
            </a:r>
            <a:r>
              <a:rPr lang="en-US" sz="8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SE114), </a:t>
            </a:r>
            <a:r>
              <a:rPr lang="en-US" sz="88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</a:t>
            </a:r>
            <a:r>
              <a:rPr lang="en-US" sz="8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8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</a:t>
            </a:r>
            <a:r>
              <a:rPr lang="en-US" sz="8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8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</a:t>
            </a:r>
            <a:r>
              <a:rPr lang="en-US" sz="8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8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sửa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6272784" y="3794760"/>
            <a:ext cx="257860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272784" y="3794760"/>
            <a:ext cx="54864" cy="60350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364224" y="3831336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thiện báo cáo cuối + chuẩn bị slide demo sản phẩm</a:t>
            </a:r>
            <a:endParaRPr lang="en-US" sz="880"/>
          </a:p>
        </p:txBody>
      </p:sp>
      <p:sp>
        <p:nvSpPr>
          <p:cNvPr id="60" name="Shape 58"/>
          <p:cNvSpPr/>
          <p:nvPr/>
        </p:nvSpPr>
        <p:spPr>
          <a:xfrm>
            <a:off x="6272784" y="4498848"/>
            <a:ext cx="2578608" cy="1828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291072" y="4498848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TV1: Đánh giá + Báo cáo | TV2: Demo + Slide</a:t>
            </a:r>
            <a:endParaRPr lang="en-US" sz="850"/>
          </a:p>
        </p:txBody>
      </p:sp>
      <p:sp>
        <p:nvSpPr>
          <p:cNvPr id="62" name="Text 5">
            <a:extLst>
              <a:ext uri="{FF2B5EF4-FFF2-40B4-BE49-F238E27FC236}">
                <a16:creationId xmlns:a16="http://schemas.microsoft.com/office/drawing/2014/main" id="{592A3942-0991-0F07-8A70-E049324A7348}"/>
              </a:ext>
            </a:extLst>
          </p:cNvPr>
          <p:cNvSpPr/>
          <p:nvPr/>
        </p:nvSpPr>
        <p:spPr>
          <a:xfrm>
            <a:off x="274320" y="493776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 Q&amp;A – Báo cáo sơ khai  |  UIT  |  SE365.Q21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7AE11E59323D9543B444CAFFB9471A64" ma:contentTypeVersion="5" ma:contentTypeDescription="Tạo tài liệu mới." ma:contentTypeScope="" ma:versionID="9fa9d4bc80b188d6bcea12521cfb49e6">
  <xsd:schema xmlns:xsd="http://www.w3.org/2001/XMLSchema" xmlns:xs="http://www.w3.org/2001/XMLSchema" xmlns:p="http://schemas.microsoft.com/office/2006/metadata/properties" xmlns:ns3="40297de6-75dc-4027-80f0-edd1a063915f" targetNamespace="http://schemas.microsoft.com/office/2006/metadata/properties" ma:root="true" ma:fieldsID="dcd1567963ad15102150063372a468bb" ns3:_="">
    <xsd:import namespace="40297de6-75dc-4027-80f0-edd1a063915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97de6-75dc-4027-80f0-edd1a063915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0297de6-75dc-4027-80f0-edd1a063915f" xsi:nil="true"/>
  </documentManagement>
</p:properties>
</file>

<file path=customXml/itemProps1.xml><?xml version="1.0" encoding="utf-8"?>
<ds:datastoreItem xmlns:ds="http://schemas.openxmlformats.org/officeDocument/2006/customXml" ds:itemID="{606155AC-033D-46EC-BF59-3996896319B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8F82DDC-8F55-42AC-8794-C44AEC6B8E43}">
  <ds:schemaRefs>
    <ds:schemaRef ds:uri="40297de6-75dc-4027-80f0-edd1a063915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14537B8-AD9E-4175-BAED-30ADB056B398}">
  <ds:schemaRefs>
    <ds:schemaRef ds:uri="http://www.w3.org/XML/1998/namespace"/>
    <ds:schemaRef ds:uri="40297de6-75dc-4027-80f0-edd1a063915f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1751</Words>
  <Application>Microsoft Office PowerPoint</Application>
  <PresentationFormat>On-screen Show (16:9)</PresentationFormat>
  <Paragraphs>174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AskUIT - Báo Cáo Sơ Khai</dc:title>
  <dc:subject>PptxGenJS Presentation</dc:subject>
  <dc:creator>PptxGenJS</dc:creator>
  <cp:lastModifiedBy>Huỳnh Tịnh Văn</cp:lastModifiedBy>
  <cp:revision>1</cp:revision>
  <dcterms:created xsi:type="dcterms:W3CDTF">2026-05-28T14:15:49Z</dcterms:created>
  <dcterms:modified xsi:type="dcterms:W3CDTF">2026-05-29T03:43:50Z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0x0101007AE11E59323D9543B444CAFFB9471A64</vt:lpwstr>
  </property>
</Properties>
</file>